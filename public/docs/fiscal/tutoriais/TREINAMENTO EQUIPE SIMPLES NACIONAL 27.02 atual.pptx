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59" r:id="rId3"/>
    <p:sldId id="342" r:id="rId4"/>
    <p:sldId id="349" r:id="rId5"/>
    <p:sldId id="343" r:id="rId6"/>
    <p:sldId id="344" r:id="rId7"/>
    <p:sldId id="345" r:id="rId8"/>
    <p:sldId id="346" r:id="rId9"/>
    <p:sldId id="347" r:id="rId10"/>
    <p:sldId id="348" r:id="rId11"/>
    <p:sldId id="302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cas Figueiredo" initials="LF" lastIdx="1" clrIdx="0">
    <p:extLst>
      <p:ext uri="{19B8F6BF-5375-455C-9EA6-DF929625EA0E}">
        <p15:presenceInfo xmlns:p15="http://schemas.microsoft.com/office/powerpoint/2012/main" userId="S-1-5-21-2926196438-4270539640-3692193681-129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45" autoAdjust="0"/>
    <p:restoredTop sz="94660"/>
  </p:normalViewPr>
  <p:slideViewPr>
    <p:cSldViewPr snapToGrid="0">
      <p:cViewPr varScale="1">
        <p:scale>
          <a:sx n="38" d="100"/>
          <a:sy n="38" d="100"/>
        </p:scale>
        <p:origin x="10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52BA8-C425-7C10-D473-BBBA881AC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9DB4FF-D7B4-B442-19DE-4C64911CB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6D6DFC-27D4-9F41-C94F-A8931ACED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FD6-35C9-4147-87D1-CC7C2C6E76DD}" type="datetimeFigureOut">
              <a:rPr lang="pt-BR" smtClean="0"/>
              <a:t>26/02/2023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FE57B7-D202-D09E-9B40-07A3D88E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E4FAD9-5E76-A4AE-6691-9159D6F0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DEB84-8C16-4878-8260-15AE475AF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009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2D64E-2435-7176-A382-FF101C058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8C7EFE-5829-84CF-0123-FB8C5D5C5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D297CB-6080-15F6-FBA0-291CDDC23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FD6-35C9-4147-87D1-CC7C2C6E76DD}" type="datetimeFigureOut">
              <a:rPr lang="pt-BR" smtClean="0"/>
              <a:t>26/02/2023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BFA94B-8FF3-49E0-A751-06DE9D4AD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9219D3-55D0-8AB7-8549-9E059781A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DEB84-8C16-4878-8260-15AE475AF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035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F2866-8D54-9EB1-5AA4-44FBB2BD4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48EE81-BEA0-C1EB-77AE-DCAD3B5FF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FD0DB7-8B0E-2298-6A64-901EE9D76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FD6-35C9-4147-87D1-CC7C2C6E76DD}" type="datetimeFigureOut">
              <a:rPr lang="pt-BR" smtClean="0"/>
              <a:t>26/02/2023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4C6DF3-84BE-FE51-E7AF-15D45D33B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0CA431-FC53-12F8-EB07-519B3A196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DEB84-8C16-4878-8260-15AE475AF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5914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8D0BB-271F-572C-0F01-FCBE5185D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998FB8-28E4-3769-9478-462CDAAD4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2E58A0-8310-D766-1EA6-CAC2B6772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1E4965-A1B3-1F63-766C-A3A21689C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FD6-35C9-4147-87D1-CC7C2C6E76DD}" type="datetimeFigureOut">
              <a:rPr lang="pt-BR" smtClean="0"/>
              <a:t>26/02/2023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96D116-74C5-F838-2B5A-B9AAD6599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B96860-B0F4-05D7-2CBF-E22328463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DEB84-8C16-4878-8260-15AE475AF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0328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F1595-CB88-1CC2-4415-0A9B1F14F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505110-A056-5208-A202-32558FDDC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2B376B-E023-405F-46BE-EAD07419E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6FE66-4493-837D-49DD-855CC8E5E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596BFE9-5717-BED3-DCA0-1F13D1B98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B910BF0-1047-2682-BD66-741E6B5D4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FD6-35C9-4147-87D1-CC7C2C6E76DD}" type="datetimeFigureOut">
              <a:rPr lang="pt-BR" smtClean="0"/>
              <a:t>26/02/2023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C19A7C1-95DC-7CB4-2F9C-A14C9AF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48E9249-EFCF-4EF4-398B-B75733EB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DEB84-8C16-4878-8260-15AE475AF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8053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B3ECD-45EB-3BDD-2599-D04C7AFB1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4A0C159-0244-7E92-3DEF-BCCBC075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FD6-35C9-4147-87D1-CC7C2C6E76DD}" type="datetimeFigureOut">
              <a:rPr lang="pt-BR" smtClean="0"/>
              <a:t>26/02/2023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C8DE555-E272-4A6E-E026-8007E1F66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531779-7545-763A-10CD-50920A45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DEB84-8C16-4878-8260-15AE475AF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2986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6064543-10B2-AD09-418F-654D40F65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FD6-35C9-4147-87D1-CC7C2C6E76DD}" type="datetimeFigureOut">
              <a:rPr lang="pt-BR" smtClean="0"/>
              <a:t>26/02/2023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036B2A5-1BD0-A032-993A-D0D6E349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24E068-0445-1AD8-5CAA-C14098D52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DEB84-8C16-4878-8260-15AE475AF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954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FB322-2CC5-BED1-5346-60E8DD726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BDC624-8611-38AD-01C5-E78839F8E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D826C4-B13C-0C90-A65A-21F2ED553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C69E49-C718-BECD-EA84-0E2ABAD14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FD6-35C9-4147-87D1-CC7C2C6E76DD}" type="datetimeFigureOut">
              <a:rPr lang="pt-BR" smtClean="0"/>
              <a:t>26/02/2023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3516BD-C61B-D9B0-24BF-AA94E454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62BAD7-408D-2B53-058D-5D50E8E0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DEB84-8C16-4878-8260-15AE475AF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8547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EC415-3D2A-BB23-6BC8-3E1A110AC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E1C13FF-68FF-CBD9-BF13-031249749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069F82-36C8-7E08-7086-06E949F8A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214FAE-BFFF-430E-B3D7-B5970276F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FD6-35C9-4147-87D1-CC7C2C6E76DD}" type="datetimeFigureOut">
              <a:rPr lang="pt-BR" smtClean="0"/>
              <a:t>26/02/2023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D2E8ED-F00E-C565-BDEB-827E9EEDC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EDB6EFC-F5E2-1FFC-AF88-7A310391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DEB84-8C16-4878-8260-15AE475AF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993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6CAE69-59C0-D52A-E436-3CF0AAF1D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AD0CAB-47E0-4D44-C592-8ADA0607C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FD0FD2-6DF9-DD42-E599-9FEA6A31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FD6-35C9-4147-87D1-CC7C2C6E76DD}" type="datetimeFigureOut">
              <a:rPr lang="pt-BR" smtClean="0"/>
              <a:t>26/02/2023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A79FA5-D90B-5936-A40D-540E03D74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2DBFC9-A7E0-38A1-9C47-E6C1B049A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DEB84-8C16-4878-8260-15AE475AF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97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BF9190-9C41-AD7E-843B-675B760DF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FCD150-CE1D-EB90-F89C-39FDA743B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8E0DAD-1E3C-A77C-B79A-1845998B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9BFD6-35C9-4147-87D1-CC7C2C6E76DD}" type="datetimeFigureOut">
              <a:rPr lang="pt-BR" smtClean="0"/>
              <a:t>26/02/2023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50876D-8885-3B51-F408-81F74D283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8C909C-0B6C-D097-56FD-AA04BC75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DEB84-8C16-4878-8260-15AE475AF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462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FF020BF-7993-4EB3-E634-13353B2A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AAA773-E7BD-444D-273D-3076FF241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D368A8-4118-5280-9D41-70ABED0B57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9BFD6-35C9-4147-87D1-CC7C2C6E76DD}" type="datetimeFigureOut">
              <a:rPr lang="pt-BR" smtClean="0"/>
              <a:t>26/02/2023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E088A3-FC8A-653D-50DE-D7415C9E2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4E8551-B9CB-3D19-2965-BBF362BCA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DEB84-8C16-4878-8260-15AE475AF3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9644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ntabilix.com.br/contabilidade-online/tabela-simples-nacional-2023/" TargetMode="External"/><Relationship Id="rId2" Type="http://schemas.openxmlformats.org/officeDocument/2006/relationships/hyperlink" Target="https://simplesnacional.com.br/blog/tabelas-e-anexos-do-simples-nacional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sefaz.pb.gov.br/legislacao/34-leis/5168-lei-n-11-031-de-12-de-dezembro-de-2017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AC151-E2BB-4945-B3E3-995DF7D78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613" y="1493356"/>
            <a:ext cx="10058400" cy="4077150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TREINAMENTO</a:t>
            </a:r>
            <a:br>
              <a:rPr lang="pt-BR" sz="6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pt-BR" sz="60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49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ESCRITURAÇÃO FISCAL DO REGIME </a:t>
            </a:r>
            <a:br>
              <a:rPr lang="pt-BR" sz="49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4900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SIMPLES NACIONAL</a:t>
            </a:r>
            <a:br>
              <a:rPr lang="pt-BR" sz="3200" dirty="0"/>
            </a:br>
            <a:br>
              <a:rPr lang="pt-BR" sz="3200" dirty="0"/>
            </a:br>
            <a:br>
              <a:rPr lang="pt-BR" sz="2800" dirty="0"/>
            </a:b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21DB714-947A-49E1-A2C1-8489AC0B60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013" y="5131398"/>
            <a:ext cx="823046" cy="87821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D851B32-304B-5192-C405-9480C3531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561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279C449-F9C9-7886-02E3-A0B659091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941" y="376517"/>
            <a:ext cx="11347234" cy="5633097"/>
          </a:xfrm>
        </p:spPr>
        <p:txBody>
          <a:bodyPr>
            <a:normAutofit lnSpcReduction="10000"/>
          </a:bodyPr>
          <a:lstStyle/>
          <a:p>
            <a:pPr algn="l" fontAlgn="base"/>
            <a:r>
              <a:rPr lang="pt-BR" dirty="0">
                <a:latin typeface="Montserrat" panose="00000500000000000000" pitchFamily="2" charset="0"/>
              </a:rPr>
              <a:t>	</a:t>
            </a:r>
            <a:r>
              <a:rPr lang="pt-BR" b="1" i="0" dirty="0">
                <a:effectLst/>
                <a:latin typeface="Montserrat" panose="00000500000000000000" pitchFamily="2" charset="0"/>
              </a:rPr>
              <a:t>O que é o Simples Nacional?</a:t>
            </a:r>
          </a:p>
          <a:p>
            <a:pPr algn="just" fontAlgn="base"/>
            <a:r>
              <a:rPr lang="pt-BR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  <a:cs typeface="Segoe UI" panose="020B0502040204020203" pitchFamily="34" charset="0"/>
              </a:rPr>
              <a:t>O Simples Nacional é um regime compartilhado de arrecadação, cobrança e fiscalização de tributos aplicável às Microempresas e Empresas de Pequeno Porte, previsto na </a:t>
            </a:r>
            <a:r>
              <a:rPr lang="pt-BR" b="1" i="0" dirty="0">
                <a:solidFill>
                  <a:srgbClr val="002060"/>
                </a:solidFill>
                <a:effectLst/>
                <a:latin typeface="Montserrat" panose="00000500000000000000" pitchFamily="2" charset="0"/>
                <a:cs typeface="Segoe UI" panose="020B0502040204020203" pitchFamily="34" charset="0"/>
              </a:rPr>
              <a:t>Lei Complementar nº 123</a:t>
            </a:r>
            <a:r>
              <a:rPr lang="pt-BR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  <a:cs typeface="Segoe UI" panose="020B0502040204020203" pitchFamily="34" charset="0"/>
              </a:rPr>
              <a:t>, de 14 de dezembro de 2006.</a:t>
            </a:r>
          </a:p>
          <a:p>
            <a:pPr algn="just" fontAlgn="base"/>
            <a:r>
              <a:rPr lang="pt-BR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  <a:cs typeface="Segoe UI" panose="020B0502040204020203" pitchFamily="34" charset="0"/>
              </a:rPr>
              <a:t>Abrange a participação de todos os entes federados (</a:t>
            </a:r>
            <a:r>
              <a:rPr lang="pt-BR" b="1" i="0" dirty="0">
                <a:solidFill>
                  <a:srgbClr val="002060"/>
                </a:solidFill>
                <a:effectLst/>
                <a:latin typeface="Montserrat" panose="00000500000000000000" pitchFamily="2" charset="0"/>
                <a:cs typeface="Segoe UI" panose="020B0502040204020203" pitchFamily="34" charset="0"/>
              </a:rPr>
              <a:t>União, Estados, Distrito Federal e Municípios</a:t>
            </a:r>
            <a:r>
              <a:rPr lang="pt-BR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  <a:cs typeface="Segoe UI" panose="020B0502040204020203" pitchFamily="34" charset="0"/>
              </a:rPr>
              <a:t>).</a:t>
            </a:r>
          </a:p>
          <a:p>
            <a:pPr algn="just" fontAlgn="base"/>
            <a:r>
              <a:rPr lang="pt-BR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  <a:cs typeface="Segoe UI" panose="020B0502040204020203" pitchFamily="34" charset="0"/>
              </a:rPr>
              <a:t>É administrado por um Comitê Gestor composto por oito integrantes: quatro da Secretaria da Receita Federal do Brasil (RFB), dois dos Estados e do Distrito Federal e dois dos </a:t>
            </a:r>
            <a:r>
              <a:rPr lang="pt-BR" b="0" i="0" dirty="0" err="1">
                <a:solidFill>
                  <a:srgbClr val="002060"/>
                </a:solidFill>
                <a:effectLst/>
                <a:latin typeface="Montserrat" panose="00000500000000000000" pitchFamily="2" charset="0"/>
                <a:cs typeface="Segoe UI" panose="020B0502040204020203" pitchFamily="34" charset="0"/>
              </a:rPr>
              <a:t>Municípios.Para</a:t>
            </a:r>
            <a:r>
              <a:rPr lang="pt-BR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  <a:cs typeface="Segoe UI" panose="020B0502040204020203" pitchFamily="34" charset="0"/>
              </a:rPr>
              <a:t> o ingresso no Simples Nacional é necessário o cumprimento das seguintes condições: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  <a:cs typeface="Segoe UI" panose="020B0502040204020203" pitchFamily="34" charset="0"/>
              </a:rPr>
              <a:t>enquadrar-se na definição de microempresa ou de empresa de pequeno porte;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  <a:cs typeface="Segoe UI" panose="020B0502040204020203" pitchFamily="34" charset="0"/>
              </a:rPr>
              <a:t>cumprir os requisitos previstos na legislação; e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  <a:cs typeface="Segoe UI" panose="020B0502040204020203" pitchFamily="34" charset="0"/>
              </a:rPr>
              <a:t>formalizar a opção pelo Simples Nacional.</a:t>
            </a:r>
          </a:p>
          <a:p>
            <a:pPr algn="l"/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8835D5F-66B2-6297-8865-049C92EE90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013" y="5131398"/>
            <a:ext cx="823046" cy="87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6094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279C449-F9C9-7886-02E3-A0B659091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941" y="376517"/>
            <a:ext cx="11347234" cy="5633097"/>
          </a:xfrm>
        </p:spPr>
        <p:txBody>
          <a:bodyPr>
            <a:normAutofit/>
          </a:bodyPr>
          <a:lstStyle/>
          <a:p>
            <a:pPr algn="l" fontAlgn="base"/>
            <a:r>
              <a:rPr lang="pt-BR" sz="2800" b="0" i="0" dirty="0">
                <a:effectLst/>
                <a:latin typeface="Montserrat" panose="00000500000000000000" pitchFamily="2" charset="0"/>
              </a:rPr>
              <a:t>Características principais do Regime do Simples Nacional:</a:t>
            </a:r>
          </a:p>
          <a:p>
            <a:pPr algn="l" fontAlgn="base"/>
            <a:endParaRPr lang="pt-BR" sz="2800" dirty="0">
              <a:solidFill>
                <a:srgbClr val="727272"/>
              </a:solidFill>
              <a:latin typeface="Montserrat" panose="00000500000000000000" pitchFamily="2" charset="0"/>
            </a:endParaRPr>
          </a:p>
          <a:p>
            <a:pPr marL="571500" indent="-571500" algn="l" fontAlgn="base"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</a:rPr>
              <a:t>Não possui direito a crédito Fiscal de ICMS , IPI , PIS e COFINS...</a:t>
            </a:r>
          </a:p>
          <a:p>
            <a:pPr marL="571500" indent="-571500" algn="l" fontAlgn="base"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</a:rPr>
              <a:t>Limite de faturamento anual 3.600.000,00 / 4.800.000,00</a:t>
            </a:r>
          </a:p>
          <a:p>
            <a:pPr marL="571500" indent="-571500" algn="l" fontAlgn="base"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</a:rPr>
              <a:t> </a:t>
            </a:r>
            <a:r>
              <a:rPr lang="pt-BR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Vencimento do DAS unificado no 20º dia do mês seguinte</a:t>
            </a:r>
          </a:p>
          <a:p>
            <a:pPr marL="571500" indent="-571500" algn="l" fontAlgn="base"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</a:rPr>
              <a:t>Não possui crédito de Fronteira </a:t>
            </a:r>
          </a:p>
          <a:p>
            <a:pPr marL="571500" indent="-571500" algn="l" fontAlgn="base"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</a:rPr>
              <a:t>A Guia do fronteira é calculada da mesma forma do LR</a:t>
            </a:r>
          </a:p>
          <a:p>
            <a:pPr marL="571500" indent="-571500" algn="l" fontAlgn="base"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</a:rPr>
              <a:t>Vencimento do ST fronteira dia 02 de cada mês </a:t>
            </a:r>
          </a:p>
          <a:p>
            <a:pPr marL="571500" indent="-571500" algn="l" fontAlgn="base"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</a:rPr>
              <a:t>Não possui </a:t>
            </a:r>
            <a:r>
              <a:rPr lang="pt-BR" dirty="0" err="1">
                <a:solidFill>
                  <a:srgbClr val="002060"/>
                </a:solidFill>
                <a:latin typeface="Montserrat" panose="00000500000000000000" pitchFamily="2" charset="0"/>
              </a:rPr>
              <a:t>Funcep</a:t>
            </a:r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</a:rPr>
              <a:t> por saídas</a:t>
            </a:r>
          </a:p>
          <a:p>
            <a:pPr marL="571500" indent="-571500" algn="l" fontAlgn="base">
              <a:buFont typeface="Courier New" panose="02070309020205020404" pitchFamily="49" charset="0"/>
              <a:buChar char="o"/>
            </a:pPr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</a:rPr>
              <a:t>Não possui controle CIAP</a:t>
            </a:r>
          </a:p>
          <a:p>
            <a:pPr algn="l" fontAlgn="base"/>
            <a:endParaRPr lang="pt-BR" dirty="0">
              <a:solidFill>
                <a:srgbClr val="727272"/>
              </a:solidFill>
              <a:latin typeface="Verdana" panose="020B0604030504040204" pitchFamily="34" charset="0"/>
            </a:endParaRPr>
          </a:p>
          <a:p>
            <a:pPr marL="571500" indent="-571500" algn="l" fontAlgn="base">
              <a:buFont typeface="+mj-lt"/>
              <a:buAutoNum type="romanUcPeriod"/>
            </a:pPr>
            <a:endParaRPr lang="pt-BR" dirty="0">
              <a:solidFill>
                <a:srgbClr val="727272"/>
              </a:solidFill>
              <a:latin typeface="Verdana" panose="020B0604030504040204" pitchFamily="34" charset="0"/>
            </a:endParaRPr>
          </a:p>
          <a:p>
            <a:pPr marL="571500" indent="-571500" algn="l" fontAlgn="base">
              <a:buFont typeface="+mj-lt"/>
              <a:buAutoNum type="romanUcPeriod"/>
            </a:pPr>
            <a:endParaRPr lang="pt-BR" dirty="0">
              <a:solidFill>
                <a:srgbClr val="727272"/>
              </a:solidFill>
              <a:latin typeface="Verdana" panose="020B0604030504040204" pitchFamily="34" charset="0"/>
            </a:endParaRPr>
          </a:p>
          <a:p>
            <a:pPr marL="571500" indent="-571500" algn="l" fontAlgn="base">
              <a:buFont typeface="+mj-lt"/>
              <a:buAutoNum type="romanUcPeriod"/>
            </a:pPr>
            <a:endParaRPr lang="pt-BR" sz="2800" b="0" i="0" dirty="0">
              <a:solidFill>
                <a:srgbClr val="727272"/>
              </a:solidFill>
              <a:effectLst/>
              <a:latin typeface="Verdana" panose="020B0604030504040204" pitchFamily="34" charset="0"/>
            </a:endParaRPr>
          </a:p>
          <a:p>
            <a:pPr algn="l" fontAlgn="base"/>
            <a:endParaRPr lang="pt-BR" b="0" i="0" dirty="0">
              <a:solidFill>
                <a:srgbClr val="727272"/>
              </a:solidFill>
              <a:effectLst/>
              <a:latin typeface="Verdana" panose="020B0604030504040204" pitchFamily="34" charset="0"/>
            </a:endParaRPr>
          </a:p>
          <a:p>
            <a:pPr algn="l"/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8835D5F-66B2-6297-8865-049C92EE90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013" y="5131398"/>
            <a:ext cx="823046" cy="87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350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279C449-F9C9-7886-02E3-A0B659091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941" y="376517"/>
            <a:ext cx="11347234" cy="5633097"/>
          </a:xfrm>
        </p:spPr>
        <p:txBody>
          <a:bodyPr>
            <a:normAutofit/>
          </a:bodyPr>
          <a:lstStyle/>
          <a:p>
            <a:pPr algn="l" fontAlgn="base"/>
            <a:r>
              <a:rPr lang="pt-BR" dirty="0">
                <a:solidFill>
                  <a:srgbClr val="002060"/>
                </a:solidFill>
                <a:latin typeface="Verdana" panose="020B0604030504040204" pitchFamily="34" charset="0"/>
              </a:rPr>
              <a:t>CALENDÁRIO DE ATIVIDADES FISCAL – SIMPLES NACIONAL</a:t>
            </a:r>
          </a:p>
          <a:p>
            <a:pPr algn="l" fontAlgn="base"/>
            <a:endParaRPr lang="pt-BR" dirty="0">
              <a:solidFill>
                <a:srgbClr val="727272"/>
              </a:solidFill>
              <a:latin typeface="Verdana" panose="020B0604030504040204" pitchFamily="34" charset="0"/>
            </a:endParaRPr>
          </a:p>
          <a:p>
            <a:pPr algn="l" fontAlgn="base"/>
            <a:r>
              <a:rPr lang="pt-BR" dirty="0">
                <a:solidFill>
                  <a:srgbClr val="002060"/>
                </a:solidFill>
                <a:latin typeface="Verdana" panose="020B0604030504040204" pitchFamily="34" charset="0"/>
              </a:rPr>
              <a:t>Vamos discutir o que muda, e que tem em comum relacionado ao regime de apuração Normal;</a:t>
            </a:r>
          </a:p>
          <a:p>
            <a:pPr algn="l" fontAlgn="base"/>
            <a:endParaRPr lang="pt-BR" dirty="0">
              <a:solidFill>
                <a:srgbClr val="002060"/>
              </a:solidFill>
              <a:latin typeface="Verdana" panose="020B0604030504040204" pitchFamily="34" charset="0"/>
            </a:endParaRPr>
          </a:p>
          <a:p>
            <a:pPr marL="342900" indent="-342900" algn="l" fontAlgn="base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rgbClr val="002060"/>
                </a:solidFill>
                <a:latin typeface="Verdana" panose="020B0604030504040204" pitchFamily="34" charset="0"/>
              </a:rPr>
              <a:t>Códigos de imposto </a:t>
            </a:r>
          </a:p>
          <a:p>
            <a:pPr marL="342900" indent="-342900" algn="l" fontAlgn="base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rgbClr val="002060"/>
                </a:solidFill>
                <a:latin typeface="Verdana" panose="020B0604030504040204" pitchFamily="34" charset="0"/>
              </a:rPr>
              <a:t>Rotina do setor – omissas, 2º aviso , data dos </a:t>
            </a:r>
            <a:r>
              <a:rPr lang="pt-BR" dirty="0" err="1">
                <a:solidFill>
                  <a:srgbClr val="002060"/>
                </a:solidFill>
                <a:latin typeface="Verdana" panose="020B0604030504040204" pitchFamily="34" charset="0"/>
              </a:rPr>
              <a:t>sped</a:t>
            </a:r>
            <a:endParaRPr lang="pt-BR" dirty="0">
              <a:solidFill>
                <a:srgbClr val="002060"/>
              </a:solidFill>
              <a:latin typeface="Verdana" panose="020B0604030504040204" pitchFamily="34" charset="0"/>
            </a:endParaRPr>
          </a:p>
          <a:p>
            <a:pPr marL="342900" indent="-342900" algn="l" fontAlgn="base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rgbClr val="002060"/>
                </a:solidFill>
                <a:latin typeface="Verdana" panose="020B0604030504040204" pitchFamily="34" charset="0"/>
              </a:rPr>
              <a:t>Prazos gerais do regimento</a:t>
            </a:r>
          </a:p>
          <a:p>
            <a:pPr marL="342900" indent="-342900" algn="l" fontAlgn="base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rgbClr val="002060"/>
                </a:solidFill>
                <a:latin typeface="Verdana" panose="020B0604030504040204" pitchFamily="34" charset="0"/>
              </a:rPr>
              <a:t>Blocos do </a:t>
            </a:r>
            <a:r>
              <a:rPr lang="pt-BR" dirty="0" err="1">
                <a:solidFill>
                  <a:srgbClr val="002060"/>
                </a:solidFill>
                <a:latin typeface="Verdana" panose="020B0604030504040204" pitchFamily="34" charset="0"/>
              </a:rPr>
              <a:t>sped</a:t>
            </a:r>
            <a:endParaRPr lang="pt-BR" dirty="0">
              <a:solidFill>
                <a:srgbClr val="002060"/>
              </a:solidFill>
              <a:latin typeface="Verdana" panose="020B0604030504040204" pitchFamily="34" charset="0"/>
            </a:endParaRPr>
          </a:p>
          <a:p>
            <a:pPr marL="342900" indent="-342900" algn="l" fontAlgn="base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rgbClr val="002060"/>
                </a:solidFill>
                <a:latin typeface="Verdana" panose="020B0604030504040204" pitchFamily="34" charset="0"/>
              </a:rPr>
              <a:t>Inventário</a:t>
            </a:r>
          </a:p>
          <a:p>
            <a:pPr marL="342900" indent="-342900" algn="l" fontAlgn="base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rgbClr val="002060"/>
                </a:solidFill>
                <a:latin typeface="Verdana" panose="020B0604030504040204" pitchFamily="34" charset="0"/>
              </a:rPr>
              <a:t>Registro 1601</a:t>
            </a:r>
          </a:p>
          <a:p>
            <a:pPr marL="342900" indent="-342900" algn="l" fontAlgn="base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rgbClr val="002060"/>
                </a:solidFill>
                <a:latin typeface="Verdana" panose="020B0604030504040204" pitchFamily="34" charset="0"/>
              </a:rPr>
              <a:t>Devoluções de venda </a:t>
            </a:r>
          </a:p>
          <a:p>
            <a:pPr algn="l" fontAlgn="base"/>
            <a:endParaRPr lang="pt-BR" dirty="0">
              <a:solidFill>
                <a:srgbClr val="727272"/>
              </a:solidFill>
              <a:latin typeface="Verdana" panose="020B0604030504040204" pitchFamily="34" charset="0"/>
            </a:endParaRPr>
          </a:p>
          <a:p>
            <a:pPr algn="l" fontAlgn="base"/>
            <a:endParaRPr lang="pt-BR" dirty="0">
              <a:solidFill>
                <a:srgbClr val="727272"/>
              </a:solidFill>
              <a:latin typeface="Verdana" panose="020B0604030504040204" pitchFamily="34" charset="0"/>
            </a:endParaRPr>
          </a:p>
          <a:p>
            <a:pPr marL="571500" indent="-571500" algn="l" fontAlgn="base">
              <a:buFont typeface="+mj-lt"/>
              <a:buAutoNum type="romanUcPeriod"/>
            </a:pPr>
            <a:endParaRPr lang="pt-BR" dirty="0">
              <a:solidFill>
                <a:srgbClr val="727272"/>
              </a:solidFill>
              <a:latin typeface="Verdana" panose="020B0604030504040204" pitchFamily="34" charset="0"/>
            </a:endParaRPr>
          </a:p>
          <a:p>
            <a:pPr marL="571500" indent="-571500" algn="l" fontAlgn="base">
              <a:buFont typeface="+mj-lt"/>
              <a:buAutoNum type="romanUcPeriod"/>
            </a:pPr>
            <a:endParaRPr lang="pt-BR" dirty="0">
              <a:solidFill>
                <a:srgbClr val="727272"/>
              </a:solidFill>
              <a:latin typeface="Verdana" panose="020B0604030504040204" pitchFamily="34" charset="0"/>
            </a:endParaRPr>
          </a:p>
          <a:p>
            <a:pPr marL="571500" indent="-571500" algn="l" fontAlgn="base">
              <a:buFont typeface="+mj-lt"/>
              <a:buAutoNum type="romanUcPeriod"/>
            </a:pPr>
            <a:endParaRPr lang="pt-BR" sz="2800" b="0" i="0" dirty="0">
              <a:solidFill>
                <a:srgbClr val="727272"/>
              </a:solidFill>
              <a:effectLst/>
              <a:latin typeface="Verdana" panose="020B0604030504040204" pitchFamily="34" charset="0"/>
            </a:endParaRPr>
          </a:p>
          <a:p>
            <a:pPr algn="l" fontAlgn="base"/>
            <a:endParaRPr lang="pt-BR" b="0" i="0" dirty="0">
              <a:solidFill>
                <a:srgbClr val="727272"/>
              </a:solidFill>
              <a:effectLst/>
              <a:latin typeface="Verdana" panose="020B0604030504040204" pitchFamily="34" charset="0"/>
            </a:endParaRPr>
          </a:p>
          <a:p>
            <a:pPr algn="l"/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8835D5F-66B2-6297-8865-049C92EE90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013" y="5131398"/>
            <a:ext cx="823046" cy="87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5493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279C449-F9C9-7886-02E3-A0B659091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941" y="376517"/>
            <a:ext cx="11347234" cy="5633097"/>
          </a:xfrm>
        </p:spPr>
        <p:txBody>
          <a:bodyPr>
            <a:normAutofit fontScale="92500" lnSpcReduction="20000"/>
          </a:bodyPr>
          <a:lstStyle/>
          <a:p>
            <a:pPr algn="l" fontAlgn="base"/>
            <a:r>
              <a:rPr lang="pt-BR" sz="2600" b="1" dirty="0">
                <a:latin typeface="Montserrat" panose="00000500000000000000" pitchFamily="2" charset="0"/>
                <a:cs typeface="Segoe UI" panose="020B0502040204020203" pitchFamily="34" charset="0"/>
              </a:rPr>
              <a:t>Para as empresas optantes pelo simples nacional, a CST é chamada de CSOSN (Código de Situação da Operação no Simples Nacional). </a:t>
            </a:r>
          </a:p>
          <a:p>
            <a:pPr algn="l" fontAlgn="base"/>
            <a:endParaRPr lang="pt-BR" dirty="0">
              <a:latin typeface="Montserrat" panose="00000500000000000000" pitchFamily="2" charset="0"/>
              <a:cs typeface="Segoe UI" panose="020B0502040204020203" pitchFamily="34" charset="0"/>
            </a:endParaRPr>
          </a:p>
          <a:p>
            <a:pPr algn="l" fontAlgn="base"/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  <a:cs typeface="Segoe UI" panose="020B0502040204020203" pitchFamily="34" charset="0"/>
              </a:rPr>
              <a:t>• 101 - Tributada pelo Simples Nacional com permissão de crédito; </a:t>
            </a:r>
          </a:p>
          <a:p>
            <a:pPr algn="l" fontAlgn="base"/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  <a:cs typeface="Segoe UI" panose="020B0502040204020203" pitchFamily="34" charset="0"/>
              </a:rPr>
              <a:t>• 102 - Tributada pelo Simples Nacional sem permissão de crédito; </a:t>
            </a:r>
          </a:p>
          <a:p>
            <a:pPr algn="l" fontAlgn="base"/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  <a:cs typeface="Segoe UI" panose="020B0502040204020203" pitchFamily="34" charset="0"/>
              </a:rPr>
              <a:t>• 103 - Isenção do ICMS no Simples Nacional para faixa de receita bruta; </a:t>
            </a:r>
          </a:p>
          <a:p>
            <a:pPr algn="l" fontAlgn="base"/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  <a:cs typeface="Segoe UI" panose="020B0502040204020203" pitchFamily="34" charset="0"/>
              </a:rPr>
              <a:t>• 201 - Tributada pelo Simples Nacional com permissão de crédito e com cobrança do ICMS por substituição tributária; </a:t>
            </a:r>
          </a:p>
          <a:p>
            <a:pPr algn="l" fontAlgn="base"/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  <a:cs typeface="Segoe UI" panose="020B0502040204020203" pitchFamily="34" charset="0"/>
              </a:rPr>
              <a:t>• 202 - Tributada pelo Simples Nacional sem permissão de crédito e com cobrança do ICMS por substituição tributária; </a:t>
            </a:r>
          </a:p>
          <a:p>
            <a:pPr algn="l" fontAlgn="base"/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  <a:cs typeface="Segoe UI" panose="020B0502040204020203" pitchFamily="34" charset="0"/>
              </a:rPr>
              <a:t>• 203 - Isenção do ICMS no Simples Nacional para faixa de receita bruta e com cobrança do ICMS por substituição tributária; </a:t>
            </a:r>
          </a:p>
          <a:p>
            <a:pPr algn="l" fontAlgn="base"/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  <a:cs typeface="Segoe UI" panose="020B0502040204020203" pitchFamily="34" charset="0"/>
              </a:rPr>
              <a:t>• 300 – Imune; • </a:t>
            </a:r>
          </a:p>
          <a:p>
            <a:pPr algn="l" fontAlgn="base"/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  <a:cs typeface="Segoe UI" panose="020B0502040204020203" pitchFamily="34" charset="0"/>
              </a:rPr>
              <a:t>400 - Não tributada pelo Simples Nacional; </a:t>
            </a:r>
          </a:p>
          <a:p>
            <a:pPr algn="l" fontAlgn="base"/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  <a:cs typeface="Segoe UI" panose="020B0502040204020203" pitchFamily="34" charset="0"/>
              </a:rPr>
              <a:t>• 500 - ICMS cobrado anteriormente por substituição tributária (substituído) ou por antecipação; </a:t>
            </a:r>
          </a:p>
          <a:p>
            <a:pPr algn="l" fontAlgn="base"/>
            <a:r>
              <a:rPr lang="pt-BR" dirty="0">
                <a:solidFill>
                  <a:srgbClr val="002060"/>
                </a:solidFill>
                <a:latin typeface="Montserrat" panose="00000500000000000000" pitchFamily="2" charset="0"/>
                <a:cs typeface="Segoe UI" panose="020B0502040204020203" pitchFamily="34" charset="0"/>
              </a:rPr>
              <a:t>• 900 – Outros.</a:t>
            </a:r>
          </a:p>
          <a:p>
            <a:pPr algn="l" fontAlgn="base"/>
            <a:endParaRPr lang="pt-BR" dirty="0">
              <a:solidFill>
                <a:srgbClr val="002060"/>
              </a:solidFill>
              <a:latin typeface="Montserrat" panose="00000500000000000000" pitchFamily="2" charset="0"/>
              <a:cs typeface="Segoe UI" panose="020B0502040204020203" pitchFamily="34" charset="0"/>
            </a:endParaRPr>
          </a:p>
          <a:p>
            <a:pPr algn="l" fontAlgn="base"/>
            <a:endParaRPr lang="pt-BR" dirty="0">
              <a:solidFill>
                <a:srgbClr val="002060"/>
              </a:solidFill>
              <a:latin typeface="Montserrat" panose="00000500000000000000" pitchFamily="2" charset="0"/>
              <a:cs typeface="Segoe UI" panose="020B0502040204020203" pitchFamily="34" charset="0"/>
            </a:endParaRPr>
          </a:p>
          <a:p>
            <a:pPr marL="571500" indent="-571500" algn="l" fontAlgn="base">
              <a:buFont typeface="+mj-lt"/>
              <a:buAutoNum type="romanUcPeriod"/>
            </a:pPr>
            <a:endParaRPr lang="pt-BR" dirty="0">
              <a:solidFill>
                <a:srgbClr val="727272"/>
              </a:solidFill>
              <a:latin typeface="Verdana" panose="020B0604030504040204" pitchFamily="34" charset="0"/>
            </a:endParaRPr>
          </a:p>
          <a:p>
            <a:pPr marL="571500" indent="-571500" algn="l" fontAlgn="base">
              <a:buFont typeface="+mj-lt"/>
              <a:buAutoNum type="romanUcPeriod"/>
            </a:pPr>
            <a:endParaRPr lang="pt-BR" sz="2800" b="0" i="0" dirty="0">
              <a:solidFill>
                <a:srgbClr val="727272"/>
              </a:solidFill>
              <a:effectLst/>
              <a:latin typeface="Verdana" panose="020B0604030504040204" pitchFamily="34" charset="0"/>
            </a:endParaRPr>
          </a:p>
          <a:p>
            <a:pPr algn="l" fontAlgn="base"/>
            <a:endParaRPr lang="pt-BR" b="0" i="0" dirty="0">
              <a:solidFill>
                <a:srgbClr val="727272"/>
              </a:solidFill>
              <a:effectLst/>
              <a:latin typeface="Verdana" panose="020B0604030504040204" pitchFamily="34" charset="0"/>
            </a:endParaRPr>
          </a:p>
          <a:p>
            <a:pPr algn="l"/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8835D5F-66B2-6297-8865-049C92EE90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013" y="5131398"/>
            <a:ext cx="823046" cy="87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4138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279C449-F9C9-7886-02E3-A0B659091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941" y="376517"/>
            <a:ext cx="11347234" cy="5633097"/>
          </a:xfrm>
        </p:spPr>
        <p:txBody>
          <a:bodyPr>
            <a:normAutofit/>
          </a:bodyPr>
          <a:lstStyle/>
          <a:p>
            <a:pPr marL="571500" indent="-571500" algn="l" fontAlgn="base">
              <a:buFont typeface="+mj-lt"/>
              <a:buAutoNum type="romanUcPeriod"/>
            </a:pPr>
            <a:endParaRPr lang="pt-BR" dirty="0">
              <a:solidFill>
                <a:srgbClr val="727272"/>
              </a:solidFill>
              <a:latin typeface="Verdana" panose="020B0604030504040204" pitchFamily="34" charset="0"/>
            </a:endParaRPr>
          </a:p>
          <a:p>
            <a:pPr algn="l" fontAlgn="base"/>
            <a:r>
              <a:rPr lang="pt-BR" sz="2800" b="1" i="0" dirty="0">
                <a:effectLst/>
                <a:latin typeface="Montserrat" panose="00000500000000000000" pitchFamily="2" charset="0"/>
              </a:rPr>
              <a:t>ANEXO ATIVIDADES SIMPLES NACIONAL</a:t>
            </a:r>
          </a:p>
          <a:p>
            <a:pPr algn="l" fontAlgn="base"/>
            <a:endParaRPr lang="pt-BR" sz="2800" dirty="0">
              <a:solidFill>
                <a:srgbClr val="727272"/>
              </a:solidFill>
              <a:latin typeface="Verdana" panose="020B0604030504040204" pitchFamily="34" charset="0"/>
            </a:endParaRP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Anexo I: Comércio</a:t>
            </a: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Anexo II: Fábricas</a:t>
            </a: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Anexo III: Prestadores de serviços de instalação e manutenção</a:t>
            </a: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Anexo IV: Prestadores de serviços de construção e limpeza.</a:t>
            </a: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Anexo V: Prestadores de serviços de publicidade, jornalismo e engenharia.</a:t>
            </a: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endParaRPr lang="pt-BR" sz="2800" b="0" i="0" dirty="0">
              <a:solidFill>
                <a:srgbClr val="727272"/>
              </a:solidFill>
              <a:effectLst/>
              <a:latin typeface="Verdana" panose="020B0604030504040204" pitchFamily="34" charset="0"/>
            </a:endParaRPr>
          </a:p>
          <a:p>
            <a:pPr marL="457200" indent="-457200" algn="l" fontAlgn="base">
              <a:buFont typeface="Arial" panose="020B0604020202020204" pitchFamily="34" charset="0"/>
              <a:buChar char="•"/>
            </a:pPr>
            <a:endParaRPr lang="pt-BR" sz="2800" b="0" i="0" dirty="0">
              <a:solidFill>
                <a:srgbClr val="727272"/>
              </a:solidFill>
              <a:effectLst/>
              <a:latin typeface="Verdana" panose="020B0604030504040204" pitchFamily="34" charset="0"/>
            </a:endParaRPr>
          </a:p>
          <a:p>
            <a:pPr algn="l" fontAlgn="base"/>
            <a:r>
              <a:rPr lang="pt-BR" sz="2000" b="0" i="0" dirty="0">
                <a:solidFill>
                  <a:srgbClr val="727272"/>
                </a:solidFill>
                <a:effectLst/>
                <a:latin typeface="Montserrat" panose="00000500000000000000" pitchFamily="2" charset="0"/>
                <a:hlinkClick r:id="rId2"/>
              </a:rPr>
              <a:t>https://simplesnacional.com.br/blog/tabelas-e-anexos-do-simples-nacional/</a:t>
            </a:r>
            <a:endParaRPr lang="pt-BR" sz="2000" b="0" i="0" dirty="0">
              <a:solidFill>
                <a:srgbClr val="727272"/>
              </a:solidFill>
              <a:effectLst/>
              <a:latin typeface="Montserrat" panose="00000500000000000000" pitchFamily="2" charset="0"/>
            </a:endParaRPr>
          </a:p>
          <a:p>
            <a:pPr algn="l" fontAlgn="base"/>
            <a:r>
              <a:rPr lang="pt-BR" sz="2000" dirty="0">
                <a:latin typeface="Montserrat" panose="00000500000000000000" pitchFamily="2" charset="0"/>
                <a:hlinkClick r:id="rId3"/>
              </a:rPr>
              <a:t>Tabela Simples Nacional 2023: entenda os cinco anexos (contabilix.com.br)</a:t>
            </a:r>
            <a:endParaRPr lang="pt-BR" sz="2000" dirty="0">
              <a:latin typeface="Montserrat" panose="00000500000000000000" pitchFamily="2" charset="0"/>
            </a:endParaRPr>
          </a:p>
          <a:p>
            <a:pPr algn="l" fontAlgn="base"/>
            <a:endParaRPr lang="pt-BR" sz="2800" b="0" i="0" dirty="0">
              <a:solidFill>
                <a:srgbClr val="727272"/>
              </a:solidFill>
              <a:effectLst/>
              <a:latin typeface="Verdana" panose="020B0604030504040204" pitchFamily="34" charset="0"/>
            </a:endParaRPr>
          </a:p>
          <a:p>
            <a:pPr algn="l" fontAlgn="base"/>
            <a:endParaRPr lang="pt-BR" sz="2800" b="0" i="0" dirty="0">
              <a:solidFill>
                <a:srgbClr val="727272"/>
              </a:solidFill>
              <a:effectLst/>
              <a:latin typeface="Verdana" panose="020B0604030504040204" pitchFamily="34" charset="0"/>
            </a:endParaRPr>
          </a:p>
          <a:p>
            <a:pPr algn="l" fontAlgn="base"/>
            <a:endParaRPr lang="pt-BR" b="0" i="0" dirty="0">
              <a:solidFill>
                <a:srgbClr val="727272"/>
              </a:solidFill>
              <a:effectLst/>
              <a:latin typeface="Verdana" panose="020B0604030504040204" pitchFamily="34" charset="0"/>
            </a:endParaRPr>
          </a:p>
          <a:p>
            <a:pPr algn="l"/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8835D5F-66B2-6297-8865-049C92EE90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013" y="5131398"/>
            <a:ext cx="823046" cy="87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734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279C449-F9C9-7886-02E3-A0B659091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941" y="376517"/>
            <a:ext cx="11347234" cy="5633097"/>
          </a:xfrm>
        </p:spPr>
        <p:txBody>
          <a:bodyPr>
            <a:normAutofit/>
          </a:bodyPr>
          <a:lstStyle/>
          <a:p>
            <a:pPr marL="571500" indent="-571500" algn="l" fontAlgn="base">
              <a:buFont typeface="+mj-lt"/>
              <a:buAutoNum type="romanUcPeriod"/>
            </a:pPr>
            <a:endParaRPr lang="pt-BR" dirty="0">
              <a:solidFill>
                <a:srgbClr val="727272"/>
              </a:solidFill>
              <a:latin typeface="Verdana" panose="020B0604030504040204" pitchFamily="34" charset="0"/>
            </a:endParaRPr>
          </a:p>
          <a:p>
            <a:pPr algn="l" fontAlgn="base"/>
            <a:r>
              <a:rPr lang="pt-BR" sz="2800" b="1" i="0" dirty="0">
                <a:effectLst/>
                <a:latin typeface="Montserrat" panose="00000500000000000000" pitchFamily="2" charset="0"/>
              </a:rPr>
              <a:t>TRIBUTAÇÃO DE IMPOSTOS (REGRAS E INCIDÊNCIA)</a:t>
            </a:r>
          </a:p>
          <a:p>
            <a:pPr algn="l" fontAlgn="base"/>
            <a:endParaRPr lang="pt-BR" sz="2800" b="0" i="0" dirty="0">
              <a:solidFill>
                <a:srgbClr val="727272"/>
              </a:solidFill>
              <a:effectLst/>
              <a:latin typeface="Montserrat" panose="00000500000000000000" pitchFamily="2" charset="0"/>
            </a:endParaRPr>
          </a:p>
          <a:p>
            <a:pPr algn="l" fontAlgn="base"/>
            <a:r>
              <a:rPr lang="pt-BR" sz="2800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Estadual : TRIBUTAÇÃO ST e TRIBUTADO NORMAL 18%</a:t>
            </a:r>
          </a:p>
          <a:p>
            <a:pPr algn="l" fontAlgn="base"/>
            <a:r>
              <a:rPr lang="pt-BR" sz="2800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Federal: MONOFÁSICO PIS e COFINS</a:t>
            </a:r>
          </a:p>
          <a:p>
            <a:pPr algn="l" fontAlgn="base"/>
            <a:endParaRPr lang="pt-BR" sz="2800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pPr algn="l" fontAlgn="base"/>
            <a:r>
              <a:rPr lang="pt-BR" sz="2800" b="0" i="0" dirty="0"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Demais : IN</a:t>
            </a:r>
            <a:r>
              <a:rPr lang="pt-BR" sz="2800" dirty="0">
                <a:solidFill>
                  <a:srgbClr val="002060"/>
                </a:solidFill>
                <a:latin typeface="Montserrat" panose="00000500000000000000" pitchFamily="2" charset="0"/>
              </a:rPr>
              <a:t>SS, IRPJ , CSLL , IPI , ISS </a:t>
            </a:r>
            <a:endParaRPr lang="pt-BR" sz="2800" b="0" i="0" dirty="0">
              <a:solidFill>
                <a:srgbClr val="002060"/>
              </a:solidFill>
              <a:effectLst/>
              <a:latin typeface="Montserrat" panose="00000500000000000000" pitchFamily="2" charset="0"/>
            </a:endParaRPr>
          </a:p>
          <a:p>
            <a:pPr algn="l" fontAlgn="base"/>
            <a:endParaRPr lang="pt-BR" sz="2800" dirty="0">
              <a:solidFill>
                <a:srgbClr val="727272"/>
              </a:solidFill>
              <a:latin typeface="Montserrat" panose="00000500000000000000" pitchFamily="2" charset="0"/>
            </a:endParaRPr>
          </a:p>
          <a:p>
            <a:pPr algn="l" fontAlgn="base"/>
            <a:r>
              <a:rPr lang="pt-BR" sz="2000" dirty="0">
                <a:latin typeface="Montserrat" panose="00000500000000000000" pitchFamily="2" charset="0"/>
                <a:hlinkClick r:id="rId2"/>
              </a:rPr>
              <a:t>REDUÇÃO DO ICMS </a:t>
            </a:r>
          </a:p>
          <a:p>
            <a:pPr algn="l" fontAlgn="base"/>
            <a:r>
              <a:rPr lang="pt-BR" sz="2000" dirty="0">
                <a:latin typeface="Montserrat" panose="00000500000000000000" pitchFamily="2" charset="0"/>
                <a:hlinkClick r:id="rId2"/>
              </a:rPr>
              <a:t>LEI Nº 11.031 DE 12 DE DEZEMBRO DE 2017. - SER/PB (sefaz.pb.gov.br)</a:t>
            </a:r>
            <a:endParaRPr lang="pt-BR" sz="2800" b="0" i="0" dirty="0">
              <a:solidFill>
                <a:srgbClr val="727272"/>
              </a:solidFill>
              <a:effectLst/>
              <a:latin typeface="Montserrat" panose="00000500000000000000" pitchFamily="2" charset="0"/>
            </a:endParaRPr>
          </a:p>
          <a:p>
            <a:pPr algn="l" fontAlgn="base"/>
            <a:endParaRPr lang="pt-BR" sz="2800" b="0" i="0" dirty="0">
              <a:solidFill>
                <a:srgbClr val="727272"/>
              </a:solidFill>
              <a:effectLst/>
              <a:latin typeface="Verdana" panose="020B0604030504040204" pitchFamily="34" charset="0"/>
            </a:endParaRPr>
          </a:p>
          <a:p>
            <a:pPr algn="l" fontAlgn="base"/>
            <a:endParaRPr lang="pt-BR" b="0" i="0" dirty="0">
              <a:solidFill>
                <a:srgbClr val="727272"/>
              </a:solidFill>
              <a:effectLst/>
              <a:latin typeface="Verdana" panose="020B0604030504040204" pitchFamily="34" charset="0"/>
            </a:endParaRPr>
          </a:p>
          <a:p>
            <a:pPr algn="l"/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8835D5F-66B2-6297-8865-049C92EE90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013" y="5131398"/>
            <a:ext cx="823046" cy="87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9699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279C449-F9C9-7886-02E3-A0B659091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941" y="376517"/>
            <a:ext cx="11347234" cy="5633097"/>
          </a:xfrm>
        </p:spPr>
        <p:txBody>
          <a:bodyPr>
            <a:normAutofit/>
          </a:bodyPr>
          <a:lstStyle/>
          <a:p>
            <a:pPr algn="l" fontAlgn="base"/>
            <a:r>
              <a:rPr lang="pt-BR" sz="2800" b="1" i="0" dirty="0">
                <a:effectLst/>
                <a:latin typeface="Verdana" panose="020B0604030504040204" pitchFamily="34" charset="0"/>
              </a:rPr>
              <a:t>CÁLCULO SIMPLES NACIONAL A PARTIR DE 2018</a:t>
            </a:r>
          </a:p>
          <a:p>
            <a:pPr fontAlgn="base"/>
            <a:endParaRPr lang="pt-BR" sz="3200" b="1" i="0" dirty="0">
              <a:solidFill>
                <a:srgbClr val="5F748B"/>
              </a:solidFill>
              <a:effectLst/>
              <a:latin typeface="Lato" panose="020B0604020202020204" pitchFamily="34" charset="0"/>
            </a:endParaRPr>
          </a:p>
          <a:p>
            <a:pPr fontAlgn="base"/>
            <a:r>
              <a:rPr lang="pt-BR" sz="3200" b="1" i="0" dirty="0">
                <a:solidFill>
                  <a:srgbClr val="5F748B"/>
                </a:solidFill>
                <a:effectLst/>
                <a:latin typeface="Lato" panose="020B0604020202020204" pitchFamily="34" charset="0"/>
              </a:rPr>
              <a:t>[(RBT12 x ALIQ) – PD] / RBT12</a:t>
            </a:r>
          </a:p>
          <a:p>
            <a:pPr fontAlgn="base"/>
            <a:r>
              <a:rPr lang="pt-BR" sz="1800" b="1" i="1" dirty="0">
                <a:solidFill>
                  <a:srgbClr val="5F748B"/>
                </a:solidFill>
                <a:latin typeface="Lato" panose="020B0604020202020204" pitchFamily="34" charset="0"/>
              </a:rPr>
              <a:t>Receita bruta total dos últimos 12 meses * Alíquota da tabela conforme a faixa e anexo da atividade – Parcela dedutível / RBT12</a:t>
            </a:r>
          </a:p>
          <a:p>
            <a:pPr fontAlgn="base"/>
            <a:endParaRPr lang="pt-BR" sz="1800" b="1" i="1" dirty="0">
              <a:solidFill>
                <a:srgbClr val="5F748B"/>
              </a:solidFill>
              <a:latin typeface="Lato" panose="020B0604020202020204" pitchFamily="34" charset="0"/>
            </a:endParaRPr>
          </a:p>
          <a:p>
            <a:pPr algn="l" fontAlgn="base"/>
            <a:r>
              <a:rPr lang="pt-BR" sz="1800" b="1" i="1" dirty="0">
                <a:latin typeface="Lato" panose="020B0604020202020204" pitchFamily="34" charset="0"/>
              </a:rPr>
              <a:t>RBT12 = 192.544,10</a:t>
            </a:r>
          </a:p>
          <a:p>
            <a:pPr algn="l" fontAlgn="base"/>
            <a:r>
              <a:rPr lang="pt-BR" sz="1800" b="1" i="1" dirty="0">
                <a:latin typeface="Lato" panose="020B0604020202020204" pitchFamily="34" charset="0"/>
              </a:rPr>
              <a:t>FATURAMENTO MÊS: 78.000,00</a:t>
            </a:r>
          </a:p>
          <a:p>
            <a:pPr algn="l" fontAlgn="base"/>
            <a:r>
              <a:rPr lang="pt-BR" sz="1800" b="1" i="1" dirty="0">
                <a:latin typeface="Lato" panose="020B0604020202020204" pitchFamily="34" charset="0"/>
              </a:rPr>
              <a:t>ANEXO I COMÉRCIO</a:t>
            </a:r>
            <a:endParaRPr lang="pt-BR" b="1" i="1" dirty="0">
              <a:latin typeface="Lato" panose="020B0604020202020204" pitchFamily="34" charset="0"/>
            </a:endParaRPr>
          </a:p>
          <a:p>
            <a:pPr fontAlgn="base"/>
            <a:endParaRPr lang="pt-BR" b="1" i="1" dirty="0">
              <a:solidFill>
                <a:srgbClr val="5F748B"/>
              </a:solidFill>
              <a:latin typeface="Lato" panose="020B0604020202020204" pitchFamily="34" charset="0"/>
            </a:endParaRPr>
          </a:p>
          <a:p>
            <a:pPr fontAlgn="base"/>
            <a:endParaRPr lang="pt-BR" b="1" i="1" dirty="0">
              <a:solidFill>
                <a:srgbClr val="5F748B"/>
              </a:solidFill>
              <a:latin typeface="Lato" panose="020B0604020202020204" pitchFamily="34" charset="0"/>
            </a:endParaRPr>
          </a:p>
          <a:p>
            <a:pPr fontAlgn="base"/>
            <a:endParaRPr lang="pt-BR" sz="4400" b="1" i="0" dirty="0">
              <a:effectLst/>
              <a:latin typeface="Verdana" panose="020B0604030504040204" pitchFamily="34" charset="0"/>
            </a:endParaRPr>
          </a:p>
          <a:p>
            <a:pPr algn="l" fontAlgn="base"/>
            <a:endParaRPr lang="pt-BR" b="0" i="0" dirty="0">
              <a:solidFill>
                <a:srgbClr val="727272"/>
              </a:solidFill>
              <a:effectLst/>
              <a:latin typeface="Verdana" panose="020B0604030504040204" pitchFamily="34" charset="0"/>
            </a:endParaRPr>
          </a:p>
          <a:p>
            <a:pPr algn="l"/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8835D5F-66B2-6297-8865-049C92EE90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013" y="5131398"/>
            <a:ext cx="823046" cy="87821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9E4A0AD-FC5D-2062-9487-D07FB425B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313" y="2680627"/>
            <a:ext cx="636270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26112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279C449-F9C9-7886-02E3-A0B659091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941" y="376517"/>
            <a:ext cx="11347234" cy="5633097"/>
          </a:xfrm>
        </p:spPr>
        <p:txBody>
          <a:bodyPr>
            <a:normAutofit/>
          </a:bodyPr>
          <a:lstStyle/>
          <a:p>
            <a:pPr algn="l" fontAlgn="base"/>
            <a:r>
              <a:rPr lang="pt-BR" sz="2800" b="1" i="0" dirty="0">
                <a:effectLst/>
                <a:latin typeface="Verdana" panose="020B0604030504040204" pitchFamily="34" charset="0"/>
              </a:rPr>
              <a:t>DOMINIO – PASSOS DA ESCRITURAÇÃO</a:t>
            </a:r>
          </a:p>
          <a:p>
            <a:pPr algn="l" fontAlgn="base"/>
            <a:endParaRPr lang="pt-BR" sz="2800" b="1" dirty="0">
              <a:latin typeface="Verdana" panose="020B0604030504040204" pitchFamily="34" charset="0"/>
            </a:endParaRPr>
          </a:p>
          <a:p>
            <a:pPr marL="342900" indent="-342900" algn="l" fontAlgn="base">
              <a:buFont typeface="Wingdings" panose="05000000000000000000" pitchFamily="2" charset="2"/>
              <a:buChar char="Ø"/>
            </a:pPr>
            <a:r>
              <a:rPr lang="pt-BR" dirty="0">
                <a:solidFill>
                  <a:srgbClr val="002060"/>
                </a:solidFill>
                <a:latin typeface="Verdana" panose="020B0604030504040204" pitchFamily="34" charset="0"/>
              </a:rPr>
              <a:t>IMPORTAÇÕES DE NOTAS</a:t>
            </a:r>
            <a:endParaRPr lang="pt-BR" i="0" dirty="0">
              <a:solidFill>
                <a:srgbClr val="002060"/>
              </a:solidFill>
              <a:effectLst/>
              <a:latin typeface="Verdana" panose="020B0604030504040204" pitchFamily="34" charset="0"/>
            </a:endParaRPr>
          </a:p>
          <a:p>
            <a:pPr marL="342900" indent="-342900" algn="l" fontAlgn="base">
              <a:buFont typeface="Wingdings" panose="05000000000000000000" pitchFamily="2" charset="2"/>
              <a:buChar char="Ø"/>
            </a:pPr>
            <a:r>
              <a:rPr lang="pt-BR" i="0" dirty="0">
                <a:solidFill>
                  <a:srgbClr val="002060"/>
                </a:solidFill>
                <a:effectLst/>
                <a:latin typeface="Verdana" panose="020B0604030504040204" pitchFamily="34" charset="0"/>
              </a:rPr>
              <a:t>ANÁLISE CORREÇÃO DO SPED – CSOSN , BASE </a:t>
            </a:r>
          </a:p>
          <a:p>
            <a:pPr marL="342900" indent="-342900" algn="l" fontAlgn="base">
              <a:buFont typeface="Wingdings" panose="05000000000000000000" pitchFamily="2" charset="2"/>
              <a:buChar char="Ø"/>
            </a:pPr>
            <a:r>
              <a:rPr lang="pt-BR" dirty="0">
                <a:solidFill>
                  <a:srgbClr val="002060"/>
                </a:solidFill>
                <a:latin typeface="Verdana" panose="020B0604030504040204" pitchFamily="34" charset="0"/>
              </a:rPr>
              <a:t>ANÁLISE DAS OPERAÇÕES PRÓPRIA</a:t>
            </a:r>
          </a:p>
          <a:p>
            <a:pPr marL="342900" indent="-342900" algn="l" fontAlgn="base">
              <a:buFont typeface="Wingdings" panose="05000000000000000000" pitchFamily="2" charset="2"/>
              <a:buChar char="Ø"/>
            </a:pPr>
            <a:r>
              <a:rPr lang="pt-BR" dirty="0">
                <a:solidFill>
                  <a:srgbClr val="002060"/>
                </a:solidFill>
                <a:latin typeface="Verdana" panose="020B0604030504040204" pitchFamily="34" charset="0"/>
              </a:rPr>
              <a:t>CANCELAMENTOS</a:t>
            </a:r>
          </a:p>
          <a:p>
            <a:pPr marL="342900" indent="-342900" algn="l" fontAlgn="base">
              <a:buFont typeface="Wingdings" panose="05000000000000000000" pitchFamily="2" charset="2"/>
              <a:buChar char="Ø"/>
            </a:pPr>
            <a:r>
              <a:rPr lang="pt-BR" dirty="0">
                <a:solidFill>
                  <a:srgbClr val="002060"/>
                </a:solidFill>
                <a:latin typeface="Verdana" panose="020B0604030504040204" pitchFamily="34" charset="0"/>
              </a:rPr>
              <a:t>CONFERÊNCIA DE FATURAMENTO</a:t>
            </a:r>
          </a:p>
          <a:p>
            <a:pPr marL="342900" indent="-342900" algn="l" fontAlgn="base">
              <a:buFont typeface="Wingdings" panose="05000000000000000000" pitchFamily="2" charset="2"/>
              <a:buChar char="Ø"/>
            </a:pPr>
            <a:r>
              <a:rPr lang="pt-BR" dirty="0">
                <a:solidFill>
                  <a:srgbClr val="002060"/>
                </a:solidFill>
                <a:latin typeface="Verdana" panose="020B0604030504040204" pitchFamily="34" charset="0"/>
              </a:rPr>
              <a:t>CADASTRO PIS E COFINS</a:t>
            </a:r>
          </a:p>
          <a:p>
            <a:pPr marL="342900" indent="-342900" algn="l" fontAlgn="base">
              <a:buFont typeface="Wingdings" panose="05000000000000000000" pitchFamily="2" charset="2"/>
              <a:buChar char="Ø"/>
            </a:pPr>
            <a:r>
              <a:rPr lang="pt-BR" dirty="0">
                <a:solidFill>
                  <a:srgbClr val="002060"/>
                </a:solidFill>
                <a:latin typeface="Verdana" panose="020B0604030504040204" pitchFamily="34" charset="0"/>
              </a:rPr>
              <a:t>REVISÃO FINAL</a:t>
            </a:r>
          </a:p>
          <a:p>
            <a:pPr marL="342900" indent="-342900" algn="l" fontAlgn="base">
              <a:buFont typeface="Wingdings" panose="05000000000000000000" pitchFamily="2" charset="2"/>
              <a:buChar char="Ø"/>
            </a:pPr>
            <a:endParaRPr lang="pt-BR" i="1" dirty="0">
              <a:solidFill>
                <a:srgbClr val="002060"/>
              </a:solidFill>
              <a:latin typeface="Montserrat" panose="00000500000000000000" pitchFamily="2" charset="0"/>
            </a:endParaRPr>
          </a:p>
          <a:p>
            <a:pPr algn="l" fontAlgn="base"/>
            <a:r>
              <a:rPr lang="pt-BR" b="1" i="1" dirty="0">
                <a:solidFill>
                  <a:srgbClr val="002060"/>
                </a:solidFill>
                <a:latin typeface="Montserrat" panose="00000500000000000000" pitchFamily="2" charset="0"/>
              </a:rPr>
              <a:t>Demonstração prática das telas de consultas do </a:t>
            </a:r>
            <a:r>
              <a:rPr lang="pt-BR" b="1" i="1" dirty="0" err="1">
                <a:solidFill>
                  <a:srgbClr val="002060"/>
                </a:solidFill>
                <a:latin typeface="Montserrat" panose="00000500000000000000" pitchFamily="2" charset="0"/>
              </a:rPr>
              <a:t>Dominio</a:t>
            </a:r>
            <a:endParaRPr lang="pt-BR" b="1" i="1" dirty="0">
              <a:solidFill>
                <a:srgbClr val="002060"/>
              </a:solidFill>
              <a:effectLst/>
              <a:latin typeface="Montserrat" panose="00000500000000000000" pitchFamily="2" charset="0"/>
            </a:endParaRPr>
          </a:p>
          <a:p>
            <a:pPr marL="342900" indent="-342900" algn="l" fontAlgn="base">
              <a:buFont typeface="Wingdings" panose="05000000000000000000" pitchFamily="2" charset="2"/>
              <a:buChar char="Ø"/>
            </a:pPr>
            <a:endParaRPr lang="pt-BR" dirty="0">
              <a:solidFill>
                <a:srgbClr val="002060"/>
              </a:solidFill>
              <a:latin typeface="Verdana" panose="020B0604030504040204" pitchFamily="34" charset="0"/>
            </a:endParaRPr>
          </a:p>
          <a:p>
            <a:pPr algn="l" fontAlgn="base"/>
            <a:endParaRPr lang="pt-BR" b="1" dirty="0">
              <a:solidFill>
                <a:srgbClr val="002060"/>
              </a:solidFill>
              <a:latin typeface="Verdana" panose="020B0604030504040204" pitchFamily="34" charset="0"/>
            </a:endParaRPr>
          </a:p>
          <a:p>
            <a:pPr algn="l" fontAlgn="base"/>
            <a:endParaRPr lang="pt-BR" sz="2800" b="1" i="0" dirty="0">
              <a:effectLst/>
              <a:latin typeface="Verdana" panose="020B0604030504040204" pitchFamily="34" charset="0"/>
            </a:endParaRPr>
          </a:p>
          <a:p>
            <a:pPr algn="l" fontAlgn="base"/>
            <a:endParaRPr lang="pt-BR" sz="2800" b="1" dirty="0">
              <a:latin typeface="Verdana" panose="020B0604030504040204" pitchFamily="34" charset="0"/>
            </a:endParaRPr>
          </a:p>
          <a:p>
            <a:pPr algn="l" fontAlgn="base"/>
            <a:endParaRPr lang="pt-BR" b="1" i="1" dirty="0">
              <a:latin typeface="Lato" panose="020B0604020202020204" pitchFamily="34" charset="0"/>
            </a:endParaRPr>
          </a:p>
          <a:p>
            <a:pPr fontAlgn="base"/>
            <a:endParaRPr lang="pt-BR" b="1" i="1" dirty="0">
              <a:solidFill>
                <a:srgbClr val="5F748B"/>
              </a:solidFill>
              <a:latin typeface="Lato" panose="020B0604020202020204" pitchFamily="34" charset="0"/>
            </a:endParaRPr>
          </a:p>
          <a:p>
            <a:pPr fontAlgn="base"/>
            <a:endParaRPr lang="pt-BR" b="1" i="1" dirty="0">
              <a:solidFill>
                <a:srgbClr val="5F748B"/>
              </a:solidFill>
              <a:latin typeface="Lato" panose="020B0604020202020204" pitchFamily="34" charset="0"/>
            </a:endParaRPr>
          </a:p>
          <a:p>
            <a:pPr fontAlgn="base"/>
            <a:endParaRPr lang="pt-BR" sz="4400" b="1" i="0" dirty="0">
              <a:effectLst/>
              <a:latin typeface="Verdana" panose="020B0604030504040204" pitchFamily="34" charset="0"/>
            </a:endParaRPr>
          </a:p>
          <a:p>
            <a:pPr algn="l" fontAlgn="base"/>
            <a:endParaRPr lang="pt-BR" b="0" i="0" dirty="0">
              <a:solidFill>
                <a:srgbClr val="727272"/>
              </a:solidFill>
              <a:effectLst/>
              <a:latin typeface="Verdana" panose="020B0604030504040204" pitchFamily="34" charset="0"/>
            </a:endParaRPr>
          </a:p>
          <a:p>
            <a:pPr algn="l"/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8835D5F-66B2-6297-8865-049C92EE90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013" y="5131398"/>
            <a:ext cx="823046" cy="87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90712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279C449-F9C9-7886-02E3-A0B659091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941" y="376517"/>
            <a:ext cx="11347234" cy="5633097"/>
          </a:xfrm>
        </p:spPr>
        <p:txBody>
          <a:bodyPr>
            <a:normAutofit/>
          </a:bodyPr>
          <a:lstStyle/>
          <a:p>
            <a:pPr algn="l" fontAlgn="base"/>
            <a:r>
              <a:rPr lang="pt-BR" sz="2800" b="1" dirty="0">
                <a:latin typeface="Verdana" panose="020B0604030504040204" pitchFamily="34" charset="0"/>
              </a:rPr>
              <a:t>ASSUNTOS EXTRAS SIMPLES NACIONAL</a:t>
            </a:r>
          </a:p>
          <a:p>
            <a:pPr algn="l" fontAlgn="base"/>
            <a:endParaRPr lang="pt-BR" sz="2800" b="1" i="0" dirty="0">
              <a:effectLst/>
              <a:latin typeface="Verdana" panose="020B0604030504040204" pitchFamily="34" charset="0"/>
            </a:endParaRPr>
          </a:p>
          <a:p>
            <a:pPr algn="l" fontAlgn="base"/>
            <a:r>
              <a:rPr lang="pt-BR" sz="2800" dirty="0">
                <a:solidFill>
                  <a:srgbClr val="002060"/>
                </a:solidFill>
                <a:latin typeface="Montserrat" panose="00000500000000000000" pitchFamily="2" charset="0"/>
              </a:rPr>
              <a:t>Monitoramento Fat. Acumulado x Exclusão </a:t>
            </a:r>
          </a:p>
          <a:p>
            <a:pPr algn="l" fontAlgn="base"/>
            <a:r>
              <a:rPr lang="pt-BR" sz="2800" i="0" dirty="0"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Regime de Caixa e Competência</a:t>
            </a:r>
          </a:p>
          <a:p>
            <a:pPr algn="l" fontAlgn="base"/>
            <a:r>
              <a:rPr lang="pt-BR" sz="2800" dirty="0">
                <a:solidFill>
                  <a:srgbClr val="002060"/>
                </a:solidFill>
                <a:latin typeface="Montserrat" panose="00000500000000000000" pitchFamily="2" charset="0"/>
              </a:rPr>
              <a:t>Retificações PGDAS – Faturamento</a:t>
            </a:r>
          </a:p>
          <a:p>
            <a:pPr algn="l" fontAlgn="base"/>
            <a:r>
              <a:rPr lang="pt-BR" sz="2800" i="0" dirty="0">
                <a:solidFill>
                  <a:srgbClr val="002060"/>
                </a:solidFill>
                <a:effectLst/>
                <a:latin typeface="Montserrat" panose="00000500000000000000" pitchFamily="2" charset="0"/>
              </a:rPr>
              <a:t>Pendência de Notas – Impacto na Apuração</a:t>
            </a:r>
          </a:p>
          <a:p>
            <a:pPr algn="l" fontAlgn="base"/>
            <a:r>
              <a:rPr lang="pt-BR" sz="2800" dirty="0">
                <a:solidFill>
                  <a:srgbClr val="002060"/>
                </a:solidFill>
                <a:latin typeface="Montserrat" panose="00000500000000000000" pitchFamily="2" charset="0"/>
              </a:rPr>
              <a:t>Divergência de saldos Federal e Estado</a:t>
            </a:r>
          </a:p>
          <a:p>
            <a:pPr algn="l" fontAlgn="base"/>
            <a:endParaRPr lang="pt-BR" sz="2800" i="0" dirty="0">
              <a:solidFill>
                <a:srgbClr val="002060"/>
              </a:solidFill>
              <a:effectLst/>
              <a:latin typeface="Montserrat" panose="00000500000000000000" pitchFamily="2" charset="0"/>
            </a:endParaRPr>
          </a:p>
          <a:p>
            <a:pPr algn="l" fontAlgn="base"/>
            <a:endParaRPr lang="pt-BR" sz="2800" b="1" dirty="0">
              <a:latin typeface="Verdana" panose="020B0604030504040204" pitchFamily="34" charset="0"/>
            </a:endParaRPr>
          </a:p>
          <a:p>
            <a:pPr algn="l" fontAlgn="base"/>
            <a:endParaRPr lang="pt-BR" b="1" dirty="0">
              <a:solidFill>
                <a:srgbClr val="002060"/>
              </a:solidFill>
              <a:latin typeface="Verdana" panose="020B0604030504040204" pitchFamily="34" charset="0"/>
            </a:endParaRPr>
          </a:p>
          <a:p>
            <a:pPr algn="l" fontAlgn="base"/>
            <a:endParaRPr lang="pt-BR" sz="2800" b="1" dirty="0">
              <a:latin typeface="Verdana" panose="020B0604030504040204" pitchFamily="34" charset="0"/>
            </a:endParaRPr>
          </a:p>
          <a:p>
            <a:pPr algn="l" fontAlgn="base"/>
            <a:endParaRPr lang="pt-BR" b="1" i="1" dirty="0">
              <a:latin typeface="Lato" panose="020B0604020202020204" pitchFamily="34" charset="0"/>
            </a:endParaRPr>
          </a:p>
          <a:p>
            <a:pPr fontAlgn="base"/>
            <a:endParaRPr lang="pt-BR" b="1" i="1" dirty="0">
              <a:solidFill>
                <a:srgbClr val="5F748B"/>
              </a:solidFill>
              <a:latin typeface="Lato" panose="020B0604020202020204" pitchFamily="34" charset="0"/>
            </a:endParaRPr>
          </a:p>
          <a:p>
            <a:pPr fontAlgn="base"/>
            <a:endParaRPr lang="pt-BR" b="1" i="1" dirty="0">
              <a:solidFill>
                <a:srgbClr val="5F748B"/>
              </a:solidFill>
              <a:latin typeface="Lato" panose="020B0604020202020204" pitchFamily="34" charset="0"/>
            </a:endParaRPr>
          </a:p>
          <a:p>
            <a:pPr fontAlgn="base"/>
            <a:endParaRPr lang="pt-BR" sz="4400" b="1" i="0" dirty="0">
              <a:effectLst/>
              <a:latin typeface="Verdana" panose="020B0604030504040204" pitchFamily="34" charset="0"/>
            </a:endParaRPr>
          </a:p>
          <a:p>
            <a:pPr algn="l" fontAlgn="base"/>
            <a:endParaRPr lang="pt-BR" b="0" i="0" dirty="0">
              <a:solidFill>
                <a:srgbClr val="727272"/>
              </a:solidFill>
              <a:effectLst/>
              <a:latin typeface="Verdana" panose="020B0604030504040204" pitchFamily="34" charset="0"/>
            </a:endParaRPr>
          </a:p>
          <a:p>
            <a:pPr algn="l"/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8835D5F-66B2-6297-8865-049C92EE90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013" y="5131398"/>
            <a:ext cx="823046" cy="87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070864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2D3C6A-DB77-7073-3019-7BABCA772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r>
              <a:rPr lang="pt-BR" dirty="0"/>
              <a:t>Dúvidas: </a:t>
            </a:r>
            <a:br>
              <a:rPr lang="pt-BR" dirty="0"/>
            </a:br>
            <a:endParaRPr lang="pt-BR" dirty="0"/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B49978B7-C0B9-32E1-802E-0274A992A6C4}"/>
              </a:ext>
            </a:extLst>
          </p:cNvPr>
          <p:cNvSpPr/>
          <p:nvPr/>
        </p:nvSpPr>
        <p:spPr>
          <a:xfrm rot="16200000">
            <a:off x="3065930" y="1574268"/>
            <a:ext cx="651934" cy="6265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52311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Tema - Contági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 - Contágil" id="{40599BC6-FEEF-46F8-9B9B-A54C44D2E8D2}" vid="{75D2D73F-35EC-4A1E-8B28-6F672E55543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3643</TotalTime>
  <Words>702</Words>
  <Application>Microsoft Office PowerPoint</Application>
  <PresentationFormat>Widescreen</PresentationFormat>
  <Paragraphs>125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Lato</vt:lpstr>
      <vt:lpstr>Montserrat</vt:lpstr>
      <vt:lpstr>Segoe UI</vt:lpstr>
      <vt:lpstr>Verdana</vt:lpstr>
      <vt:lpstr>Wingdings</vt:lpstr>
      <vt:lpstr>Tema - Contágil</vt:lpstr>
      <vt:lpstr>TREINAMENTO  ESCRITURAÇÃO FISCAL DO REGIME  SIMPLES NACIONAL 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   Dúvidas: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Edjunior Soares</dc:creator>
  <cp:lastModifiedBy>Eslannya Oliveira</cp:lastModifiedBy>
  <cp:revision>23</cp:revision>
  <dcterms:created xsi:type="dcterms:W3CDTF">2022-08-24T14:27:48Z</dcterms:created>
  <dcterms:modified xsi:type="dcterms:W3CDTF">2023-02-27T10:45:40Z</dcterms:modified>
</cp:coreProperties>
</file>